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Kanit" panose="020B0604020202020204" charset="-34"/>
      <p:regular r:id="rId13"/>
    </p:embeddedFont>
    <p:embeddedFont>
      <p:font typeface="Martel Sans" panose="020B0604020202020204" charset="0"/>
      <p:regular r:id="rId14"/>
    </p:embeddedFont>
    <p:embeddedFont>
      <p:font typeface="Martel Sans Bold" panose="020B0604020202020204" charset="0"/>
      <p:regular r:id="rId15"/>
    </p:embeddedFont>
    <p:embeddedFont>
      <p:font typeface="Martel Sans Light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12306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1C4E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0C35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1065709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QSolve Quantum Hackathon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8086" y="1951534"/>
            <a:ext cx="6223638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Quantum-Optimized Portfolio Building for East African Pension &amp; SACCO Funds</a:t>
            </a:r>
            <a:endParaRPr lang="en-US" sz="5100" dirty="0"/>
          </a:p>
        </p:txBody>
      </p:sp>
      <p:sp>
        <p:nvSpPr>
          <p:cNvPr id="5" name="Shape 2"/>
          <p:cNvSpPr/>
          <p:nvPr/>
        </p:nvSpPr>
        <p:spPr>
          <a:xfrm>
            <a:off x="698086" y="5489178"/>
            <a:ext cx="1644311" cy="303113"/>
          </a:xfrm>
          <a:prstGeom prst="roundRect">
            <a:avLst>
              <a:gd name="adj" fmla="val 7897"/>
            </a:avLst>
          </a:prstGeom>
          <a:solidFill>
            <a:srgbClr val="4C0107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6" name="Text 3"/>
          <p:cNvSpPr/>
          <p:nvPr/>
        </p:nvSpPr>
        <p:spPr>
          <a:xfrm>
            <a:off x="817740" y="5549007"/>
            <a:ext cx="2014586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FINTECH GROUP 2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442109" y="5489178"/>
            <a:ext cx="3929857" cy="303113"/>
          </a:xfrm>
          <a:prstGeom prst="roundRect">
            <a:avLst>
              <a:gd name="adj" fmla="val 7897"/>
            </a:avLst>
          </a:prstGeom>
          <a:noFill/>
          <a:ln w="6350">
            <a:solidFill>
              <a:srgbClr val="FD505F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8" name="Text 5"/>
          <p:cNvSpPr/>
          <p:nvPr/>
        </p:nvSpPr>
        <p:spPr>
          <a:xfrm>
            <a:off x="2561764" y="5549007"/>
            <a:ext cx="4300132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50" dirty="0">
                <a:solidFill>
                  <a:srgbClr val="FD505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SDG 8 — DECENT WORK &amp; ECONOMIC GROWTH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1532434"/>
            <a:ext cx="622363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The Core Research Question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569108" y="2642592"/>
            <a:ext cx="5924501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Can quantum optimization help East African pension and SACCO funds construct diversified investment portfolios more efficiently under realistic constraints, while maintaining or improving risk-adjusted returns compared with classical methods?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5269971" y="2418259"/>
            <a:ext cx="25399" cy="2044601"/>
          </a:xfrm>
          <a:prstGeom prst="roundRect">
            <a:avLst>
              <a:gd name="adj" fmla="val 50001"/>
            </a:avLst>
          </a:prstGeom>
          <a:solidFill>
            <a:srgbClr val="FD505F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6" name="Text 3"/>
          <p:cNvSpPr/>
          <p:nvPr/>
        </p:nvSpPr>
        <p:spPr>
          <a:xfrm>
            <a:off x="5269971" y="4687193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The key is </a:t>
            </a:r>
            <a:r>
              <a:rPr lang="en-US" sz="15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not</a:t>
            </a: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to claim quantum advantage beforehand — the project should </a:t>
            </a:r>
            <a:r>
              <a:rPr lang="en-US" sz="15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test</a:t>
            </a: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whether a quantum approach can provide one.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95610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The Problem: Combinatorial Explosion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854101"/>
            <a:ext cx="6868048" cy="38919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98319" y="1490563"/>
            <a:ext cx="3501640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Asset Selection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998319" y="1899940"/>
            <a:ext cx="3501640" cy="7852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 fund selects </a:t>
            </a:r>
            <a:r>
              <a:rPr lang="en-US" sz="13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B assets</a:t>
            </a:r>
            <a:r>
              <a:rPr lang="en-US" sz="13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from </a:t>
            </a:r>
            <a:r>
              <a:rPr lang="en-US" sz="13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N candidates</a:t>
            </a:r>
            <a:r>
              <a:rPr lang="en-US" sz="13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. The number of possible portfolios grows exponentially:</a:t>
            </a:r>
            <a:endParaRPr lang="en-US" sz="1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8319" y="2878435"/>
            <a:ext cx="3501640" cy="5702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998319" y="3641923"/>
            <a:ext cx="3501640" cy="536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For </a:t>
            </a:r>
            <a:r>
              <a:rPr lang="en-US" sz="1350" i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   </a:t>
            </a:r>
            <a:r>
              <a:rPr lang="en-US" sz="13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, the combinations are already astronomically large.</a:t>
            </a:r>
            <a:endParaRPr lang="en-US" sz="13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6882" y="3667323"/>
            <a:ext cx="335252" cy="2183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998319" y="4330799"/>
            <a:ext cx="3501640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Real-World Constraints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7998319" y="4740176"/>
            <a:ext cx="3501640" cy="1468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Max/min investment per asset</a:t>
            </a:r>
            <a:endParaRPr lang="en-US" sz="1350" dirty="0"/>
          </a:p>
          <a:p>
            <a:pPr marL="274320" indent="-274320" algn="l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Sector limits, risk limits, liquidity</a:t>
            </a:r>
            <a:endParaRPr lang="en-US" sz="1350" dirty="0"/>
          </a:p>
          <a:p>
            <a:pPr marL="274320" indent="-274320" algn="l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Regulatory requirements, transaction costs</a:t>
            </a:r>
            <a:endParaRPr lang="en-US" sz="1350" dirty="0"/>
          </a:p>
          <a:p>
            <a:pPr marL="274320" indent="-274320" algn="l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Asset correlations, expected returns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25277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Classical Methods — The Landscape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1610916"/>
            <a:ext cx="1079552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Classical portfolio optimization is mature and effective — but large discrete decisions and multiple constraints create rapidly growing computational costs.</a:t>
            </a:r>
            <a:endParaRPr lang="en-US" sz="15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086" y="2473623"/>
          <a:ext cx="9143771" cy="914400"/>
        </p:xfrm>
        <a:graphic>
          <a:graphicData uri="http://schemas.openxmlformats.org/drawingml/2006/table">
            <a:tbl>
              <a:tblPr/>
              <a:tblGrid>
                <a:gridCol w="3022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1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b="1" dirty="0">
                          <a:solidFill>
                            <a:srgbClr val="D9E1FF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Method</a:t>
                      </a:r>
                      <a:endParaRPr lang="en-US" sz="15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99479" marR="199479" marT="6350" marB="6350" anchor="ctr">
                    <a:lnL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b="1" dirty="0">
                          <a:solidFill>
                            <a:srgbClr val="D9E1FF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What it does</a:t>
                      </a:r>
                      <a:endParaRPr lang="en-US" sz="15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99479" marR="199479" marT="6350" marB="6350" anchor="ctr">
                    <a:lnL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b="1" dirty="0">
                          <a:solidFill>
                            <a:srgbClr val="D9E1FF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Main limitation</a:t>
                      </a:r>
                      <a:endParaRPr lang="en-US" sz="15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99479" marR="199479" marT="6350" marB="6350" anchor="ctr">
                    <a:lnL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1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D9E1FF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Markowitz MVO</a:t>
                      </a:r>
                      <a:endParaRPr lang="en-US" sz="15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99479" marR="199479" marT="6350" marB="6350" anchor="ctr">
                    <a:lnL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D9E1FF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Balances return vs. variance</a:t>
                      </a:r>
                      <a:endParaRPr lang="en-US" sz="15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99479" marR="199479" marT="6350" marB="6350" anchor="ctr">
                    <a:lnL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D9E1FF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Sensitive to estimation errors</a:t>
                      </a:r>
                      <a:endParaRPr lang="en-US" sz="15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99479" marR="199479" marT="6350" marB="6350" anchor="ctr">
                    <a:lnL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1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D9E1FF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Black-Litterman</a:t>
                      </a:r>
                      <a:endParaRPr lang="en-US" sz="15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99479" marR="199479" marT="6350" marB="6350" anchor="ctr">
                    <a:lnL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D9E1FF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Market equilibrium + investor views</a:t>
                      </a:r>
                      <a:endParaRPr lang="en-US" sz="15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99479" marR="199479" marT="6350" marB="6350" anchor="ctr">
                    <a:lnL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D9E1FF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Heavy on assumptions</a:t>
                      </a:r>
                      <a:endParaRPr lang="en-US" sz="15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99479" marR="199479" marT="6350" marB="6350" anchor="ctr">
                    <a:lnL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1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D9E1FF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CVaR Optimization</a:t>
                      </a:r>
                      <a:endParaRPr lang="en-US" sz="15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99479" marR="199479" marT="6350" marB="6350" anchor="ctr">
                    <a:lnL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D9E1FF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Controls tail risk</a:t>
                      </a:r>
                      <a:endParaRPr lang="en-US" sz="15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99479" marR="199479" marT="6350" marB="6350" anchor="ctr">
                    <a:lnL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D9E1FF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Expensive with many scenarios</a:t>
                      </a:r>
                      <a:endParaRPr lang="en-US" sz="15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99479" marR="199479" marT="6350" marB="6350" anchor="ctr">
                    <a:lnL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1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D9E1FF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MILP / MIP</a:t>
                      </a:r>
                      <a:endParaRPr lang="en-US" sz="15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99479" marR="199479" marT="6350" marB="6350" anchor="ctr">
                    <a:lnL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D9E1FF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Handles discrete decisions</a:t>
                      </a:r>
                      <a:endParaRPr lang="en-US" sz="15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99479" marR="199479" marT="6350" marB="6350" anchor="ctr">
                    <a:lnL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D9E1FF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Scales poorly with problem size</a:t>
                      </a:r>
                      <a:endParaRPr lang="en-US" sz="15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99479" marR="199479" marT="6350" marB="6350" anchor="ctr">
                    <a:lnL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03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D9E1FF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Genetic / Simulated Annealing</a:t>
                      </a:r>
                      <a:endParaRPr lang="en-US" sz="15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99479" marR="199479" marT="6350" marB="6350" anchor="ctr">
                    <a:lnL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D9E1FF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Heuristic search</a:t>
                      </a:r>
                      <a:endParaRPr lang="en-US" sz="15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99479" marR="199479" marT="6350" marB="6350" anchor="ctr">
                    <a:lnL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D9E1FF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No global optimum guarantee</a:t>
                      </a:r>
                      <a:endParaRPr lang="en-US" sz="15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99479" marR="199479" marT="6350" marB="6350" anchor="ctr">
                    <a:lnL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0763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The Quantum Opportunity: QUBO Formulation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98086" y="1963440"/>
            <a:ext cx="5276123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Why QUBO?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92041" y="2379940"/>
            <a:ext cx="5276123" cy="564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The problem naturally maps to </a:t>
            </a:r>
            <a:r>
              <a:rPr lang="en-US" sz="160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Quadratic Unconstrained Binary Optimization</a:t>
            </a:r>
            <a:r>
              <a:rPr lang="en-US" sz="16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— a form directly attackable by quantum algorithms.</a:t>
            </a:r>
            <a:endParaRPr lang="en-US" sz="16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040" y="3360856"/>
            <a:ext cx="5276123" cy="488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8086" y="4074615"/>
            <a:ext cx="5885707" cy="564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The penalty term </a:t>
            </a:r>
            <a:r>
              <a:rPr lang="en-US" sz="1100" i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       </a:t>
            </a:r>
            <a:r>
              <a:rPr lang="en-US" sz="11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enforces exact asset count.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6355" y="4018087"/>
            <a:ext cx="766205" cy="248378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3836" y="974824"/>
            <a:ext cx="5276123" cy="52762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23404"/>
            <a:ext cx="10795524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QAOA — Quantum Approximate Optimization Algorithm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582638"/>
            <a:ext cx="3598475" cy="7231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78858" y="2469555"/>
            <a:ext cx="3236931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Market Data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878858" y="2833688"/>
            <a:ext cx="3236931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NSE / USE / Tanzania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6560" y="1582638"/>
            <a:ext cx="3598475" cy="72310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77333" y="2469555"/>
            <a:ext cx="3236931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Financial Model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4477333" y="2833688"/>
            <a:ext cx="3236931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Returns, Covariance, Risk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5035" y="1582638"/>
            <a:ext cx="3598475" cy="72310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75807" y="2469555"/>
            <a:ext cx="3236931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QUBO / Ising</a:t>
            </a:r>
            <a:endParaRPr lang="en-US" sz="1650" dirty="0"/>
          </a:p>
        </p:txBody>
      </p:sp>
      <p:sp>
        <p:nvSpPr>
          <p:cNvPr id="11" name="Text 6"/>
          <p:cNvSpPr/>
          <p:nvPr/>
        </p:nvSpPr>
        <p:spPr>
          <a:xfrm>
            <a:off x="8075807" y="2833688"/>
            <a:ext cx="3236931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Encode as Hamiltonian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086" y="3290094"/>
            <a:ext cx="3598475" cy="72310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78858" y="4177010"/>
            <a:ext cx="3236931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QAOA Circuit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878858" y="4541143"/>
            <a:ext cx="3236931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Parameterized quantum search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6560" y="3290094"/>
            <a:ext cx="3598475" cy="72310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477333" y="4177010"/>
            <a:ext cx="3236931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Portfolio Output</a:t>
            </a:r>
            <a:endParaRPr lang="en-US" sz="1650" dirty="0"/>
          </a:p>
        </p:txBody>
      </p:sp>
      <p:sp>
        <p:nvSpPr>
          <p:cNvPr id="17" name="Text 10"/>
          <p:cNvSpPr/>
          <p:nvPr/>
        </p:nvSpPr>
        <p:spPr>
          <a:xfrm>
            <a:off x="4477333" y="4541143"/>
            <a:ext cx="3236931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Candidate asset selection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698086" y="5181798"/>
            <a:ext cx="10795524" cy="952798"/>
          </a:xfrm>
          <a:prstGeom prst="roundRect">
            <a:avLst>
              <a:gd name="adj" fmla="val 2846"/>
            </a:avLst>
          </a:prstGeom>
          <a:solidFill>
            <a:srgbClr val="7E010C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8858" y="5416649"/>
            <a:ext cx="225915" cy="180777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85545" y="5390753"/>
            <a:ext cx="10027292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QAOA is designed to approximately solve combinatorial problems by encoding the objective into a cost Hamiltonian and searching for low-energy solutions.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9395"/>
            <a:ext cx="10795524" cy="385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Hybrid Quantum-Classical Architecture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116211"/>
            <a:ext cx="10795524" cy="4739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29399" y="3734014"/>
            <a:ext cx="1892364" cy="550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Classical Pre-processing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2529399" y="4367309"/>
            <a:ext cx="1892364" cy="968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Collect NSE/USE/Tanzania data, compute returns, covariance, set constraints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7842574" y="3854889"/>
            <a:ext cx="1892364" cy="550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Classical Post-processing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842574" y="4488184"/>
            <a:ext cx="1892364" cy="774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Compute Sharpe, CVaR, volatility, benchmark and deliver candidates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201583" y="1613175"/>
            <a:ext cx="1892364" cy="275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Quantum Core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201583" y="1971414"/>
            <a:ext cx="1892364" cy="580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Formulate QUBO and run QAOA to search asset combinations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98086" y="5951934"/>
            <a:ext cx="10795524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This architecture is realistic for today's quantum hardware — classical systems handle data preparation and evaluation, while quantum search explores promising asset combinations.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73881"/>
            <a:ext cx="10795524" cy="549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The Experiment: Benchmarking Framework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98086" y="1562100"/>
            <a:ext cx="5169664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Problem Sizes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98086" y="2034282"/>
            <a:ext cx="2497174" cy="1114028"/>
          </a:xfrm>
          <a:prstGeom prst="roundRect">
            <a:avLst>
              <a:gd name="adj" fmla="val 2518"/>
            </a:avLst>
          </a:prstGeom>
          <a:solidFill>
            <a:srgbClr val="2F2B54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5" name="Text 3"/>
          <p:cNvSpPr/>
          <p:nvPr/>
        </p:nvSpPr>
        <p:spPr>
          <a:xfrm>
            <a:off x="885009" y="2221210"/>
            <a:ext cx="2123327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Small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85009" y="2671564"/>
            <a:ext cx="2123327" cy="28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N = 10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370575" y="2034282"/>
            <a:ext cx="2497174" cy="1114028"/>
          </a:xfrm>
          <a:prstGeom prst="roundRect">
            <a:avLst>
              <a:gd name="adj" fmla="val 2518"/>
            </a:avLst>
          </a:prstGeom>
          <a:solidFill>
            <a:srgbClr val="2F2B54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8" name="Text 6"/>
          <p:cNvSpPr/>
          <p:nvPr/>
        </p:nvSpPr>
        <p:spPr>
          <a:xfrm>
            <a:off x="3557499" y="2221210"/>
            <a:ext cx="2123327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Medium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557499" y="2671564"/>
            <a:ext cx="2123327" cy="28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N = 20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98086" y="3323630"/>
            <a:ext cx="5169664" cy="1114028"/>
          </a:xfrm>
          <a:prstGeom prst="roundRect">
            <a:avLst>
              <a:gd name="adj" fmla="val 2518"/>
            </a:avLst>
          </a:prstGeom>
          <a:solidFill>
            <a:srgbClr val="2F2B54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1" name="Text 9"/>
          <p:cNvSpPr/>
          <p:nvPr/>
        </p:nvSpPr>
        <p:spPr>
          <a:xfrm>
            <a:off x="885009" y="3510558"/>
            <a:ext cx="4795817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Large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85009" y="3960912"/>
            <a:ext cx="4795817" cy="28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N = 30–100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330296" y="1562100"/>
            <a:ext cx="5169664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Comparison Metrics</a:t>
            </a:r>
            <a:endParaRPr lang="en-US" sz="17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30296" y="2034282"/>
          <a:ext cx="5169664" cy="2854056"/>
        </p:xfrm>
        <a:graphic>
          <a:graphicData uri="http://schemas.openxmlformats.org/drawingml/2006/table">
            <a:tbl>
              <a:tblPr/>
              <a:tblGrid>
                <a:gridCol w="25848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2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2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8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D9E1FF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Metric</a:t>
                      </a:r>
                      <a:endParaRPr lang="en-US" sz="14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87012" marR="187012" marT="6350" marB="6350" anchor="ctr">
                    <a:lnL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D9E1FF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Classical</a:t>
                      </a:r>
                      <a:endParaRPr lang="en-US" sz="14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87012" marR="187012" marT="6350" marB="6350" anchor="ctr">
                    <a:lnL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D9E1FF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Quantum</a:t>
                      </a:r>
                      <a:endParaRPr lang="en-US" sz="14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87012" marR="187012" marT="6350" marB="6350" anchor="ctr">
                    <a:lnL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8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9E1FF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Return, Volatility, Sharpe</a:t>
                      </a:r>
                      <a:endParaRPr lang="en-US" sz="14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87012" marR="187012" marT="6350" marB="6350" anchor="ctr">
                    <a:lnL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9E1FF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✓</a:t>
                      </a:r>
                      <a:endParaRPr lang="en-US" sz="14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87012" marR="187012" marT="6350" marB="6350" anchor="ctr">
                    <a:lnL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9E1FF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✓</a:t>
                      </a:r>
                      <a:endParaRPr lang="en-US" sz="14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87012" marR="187012" marT="6350" marB="6350" anchor="ctr">
                    <a:lnL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8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9E1FF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CVaR, Constraints</a:t>
                      </a:r>
                      <a:endParaRPr lang="en-US" sz="14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87012" marR="187012" marT="6350" marB="6350" anchor="ctr">
                    <a:lnL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9E1FF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✓</a:t>
                      </a:r>
                      <a:endParaRPr lang="en-US" sz="14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87012" marR="187012" marT="6350" marB="6350" anchor="ctr">
                    <a:lnL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9E1FF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✓</a:t>
                      </a:r>
                      <a:endParaRPr lang="en-US" sz="14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87012" marR="187012" marT="6350" marB="6350" anchor="ctr">
                    <a:lnL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8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9E1FF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Runtime, Scaling</a:t>
                      </a:r>
                      <a:endParaRPr lang="en-US" sz="14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87012" marR="187012" marT="6350" marB="6350" anchor="ctr">
                    <a:lnL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9E1FF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✓</a:t>
                      </a:r>
                      <a:endParaRPr lang="en-US" sz="14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87012" marR="187012" marT="6350" marB="6350" anchor="ctr">
                    <a:lnL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9E1FF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✓</a:t>
                      </a:r>
                      <a:endParaRPr lang="en-US" sz="14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87012" marR="187012" marT="6350" marB="6350" anchor="ctr">
                    <a:lnL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26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9E1FF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Energy cost, Reproducibility</a:t>
                      </a:r>
                      <a:endParaRPr lang="en-US" sz="14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87012" marR="187012" marT="6350" marB="6350" anchor="ctr">
                    <a:lnL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9E1FF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✓</a:t>
                      </a:r>
                      <a:endParaRPr lang="en-US" sz="14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87012" marR="187012" marT="6350" marB="6350" anchor="ctr">
                    <a:lnL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D9E1FF"/>
                          </a:solidFill>
                          <a:latin typeface="Martel Sans" pitchFamily="34" charset="0"/>
                          <a:ea typeface="Martel Sans" pitchFamily="34" charset="-122"/>
                          <a:cs typeface="Martel Sans" pitchFamily="34" charset="-120"/>
                        </a:rPr>
                        <a:t>✓</a:t>
                      </a:r>
                      <a:endParaRPr lang="en-US" sz="1450" dirty="0">
                        <a:latin typeface="Martel Sans" charset="0"/>
                        <a:ea typeface="Martel Sans" charset="0"/>
                        <a:cs typeface="Martel Sans" charset="0"/>
                      </a:endParaRPr>
                    </a:p>
                  </a:txBody>
                  <a:tcPr marL="187012" marR="187012" marT="6350" marB="6350" anchor="ctr">
                    <a:lnL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9466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6330296" y="5098256"/>
            <a:ext cx="5169664" cy="988616"/>
          </a:xfrm>
          <a:prstGeom prst="roundRect">
            <a:avLst>
              <a:gd name="adj" fmla="val 2837"/>
            </a:avLst>
          </a:prstGeom>
          <a:solidFill>
            <a:srgbClr val="262626"/>
          </a:solidFill>
          <a:ln/>
        </p:spPr>
        <p:txBody>
          <a:bodyPr/>
          <a:lstStyle/>
          <a:p>
            <a:endParaRPr lang="en-KE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19" y="5340846"/>
            <a:ext cx="233754" cy="18692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937896" y="5302746"/>
            <a:ext cx="4375140" cy="579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Key question:</a:t>
            </a:r>
            <a:r>
              <a:rPr lang="en-US" sz="1450" dirty="0">
                <a:solidFill>
                  <a:srgbClr val="FFFF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At what problem size does the quantum/hybrid method become competitive?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656233"/>
            <a:ext cx="6223638" cy="458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SDG Impact — Beyond Finance</a:t>
            </a:r>
            <a:endParaRPr lang="en-US" sz="28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1297186"/>
            <a:ext cx="311638" cy="31164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98086" y="1760934"/>
            <a:ext cx="6223638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SDG 8 — Economic Growth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698086" y="2063155"/>
            <a:ext cx="6223638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Better capital allocation → stronger institutions → productive business investment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086" y="2528689"/>
            <a:ext cx="311638" cy="31164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98086" y="3294658"/>
            <a:ext cx="6223638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Stronger pension/SACCO systems improve financial security and reduce inequalities</a:t>
            </a:r>
            <a:endParaRPr lang="en-US" sz="12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086" y="4075260"/>
            <a:ext cx="311638" cy="31164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98086" y="4723404"/>
            <a:ext cx="6223638" cy="44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Quantum tech applied to African financial infrastructure; researchers + institutions + policymakers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65150"/>
            <a:ext cx="10795524" cy="320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Project Architecture &amp; Final Hypothesis</a:t>
            </a:r>
            <a:endParaRPr lang="en-US" sz="2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535" y="1005185"/>
            <a:ext cx="10706527" cy="46170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2944" y="4755606"/>
            <a:ext cx="2285926" cy="285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Classical &amp; Quantum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462944" y="3686835"/>
            <a:ext cx="2285926" cy="285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Financial Model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462944" y="2628859"/>
            <a:ext cx="2285926" cy="285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Data Processing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462944" y="1560087"/>
            <a:ext cx="2285926" cy="285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Market Data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98086" y="5748933"/>
            <a:ext cx="5264713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Core Novelty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98086" y="5969000"/>
            <a:ext cx="5264713" cy="270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 quantum-hybrid portfolio optimization framework designed </a:t>
            </a:r>
            <a:r>
              <a:rPr lang="en-US" sz="8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specifically</a:t>
            </a:r>
            <a:r>
              <a:rPr lang="en-US" sz="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for East African pension and SACCO problems, using regional market data and realistic constraints.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156667" y="5689302"/>
            <a:ext cx="5421871" cy="603448"/>
          </a:xfrm>
          <a:prstGeom prst="roundRect">
            <a:avLst>
              <a:gd name="adj" fmla="val 2712"/>
            </a:avLst>
          </a:prstGeom>
          <a:solidFill>
            <a:srgbClr val="1B1744"/>
          </a:solidFill>
          <a:ln/>
        </p:spPr>
        <p:txBody>
          <a:bodyPr/>
          <a:lstStyle/>
          <a:p>
            <a:endParaRPr lang="en-KE"/>
          </a:p>
        </p:txBody>
      </p:sp>
      <p:sp>
        <p:nvSpPr>
          <p:cNvPr id="11" name="Text 8"/>
          <p:cNvSpPr/>
          <p:nvPr/>
        </p:nvSpPr>
        <p:spPr>
          <a:xfrm>
            <a:off x="6265706" y="5748933"/>
            <a:ext cx="5203794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Hypothesis H₁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265706" y="5969000"/>
            <a:ext cx="5203794" cy="270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Quantum/hybrid optimization can produce portfolio solutions of </a:t>
            </a:r>
            <a:r>
              <a:rPr lang="en-US" sz="8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comparable quality</a:t>
            </a:r>
            <a:r>
              <a:rPr lang="en-US" sz="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to strong classical baselines, with </a:t>
            </a:r>
            <a:r>
              <a:rPr lang="en-US" sz="850" i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potential</a:t>
            </a:r>
            <a:r>
              <a:rPr lang="en-US" sz="8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for improved scalability as problem complexity increases.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568</Words>
  <Application>Microsoft Office PowerPoint</Application>
  <PresentationFormat>Widescreen</PresentationFormat>
  <Paragraphs>109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Martel Sans Light</vt:lpstr>
      <vt:lpstr>Arial</vt:lpstr>
      <vt:lpstr>Martel Sans</vt:lpstr>
      <vt:lpstr>Martel Sans Bold</vt:lpstr>
      <vt:lpstr>Kanit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Clive Sekandi</cp:lastModifiedBy>
  <cp:revision>2</cp:revision>
  <dcterms:created xsi:type="dcterms:W3CDTF">2026-09-01T18:39:23Z</dcterms:created>
  <dcterms:modified xsi:type="dcterms:W3CDTF">2026-09-01T19:12:18Z</dcterms:modified>
</cp:coreProperties>
</file>